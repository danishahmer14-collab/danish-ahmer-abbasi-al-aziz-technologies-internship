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Loss over epochs (sample)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1750" cap="flat">
              <a:solidFill>
                <a:srgbClr val="3B5FE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2.1</c:v>
                </c:pt>
                <c:pt idx="1">
                  <c:v>1.75</c:v>
                </c:pt>
                <c:pt idx="2">
                  <c:v>1.5</c:v>
                </c:pt>
                <c:pt idx="3">
                  <c:v>1.32</c:v>
                </c:pt>
                <c:pt idx="4">
                  <c:v>1.18</c:v>
                </c:pt>
                <c:pt idx="5">
                  <c:v>1.06</c:v>
                </c:pt>
                <c:pt idx="6">
                  <c:v>0.97</c:v>
                </c:pt>
                <c:pt idx="7">
                  <c:v>0.89</c:v>
                </c:pt>
                <c:pt idx="8">
                  <c:v>0.82</c:v>
                </c:pt>
                <c:pt idx="9">
                  <c:v>0.76</c:v>
                </c:pt>
                <c:pt idx="10">
                  <c:v>0.71</c:v>
                </c:pt>
                <c:pt idx="11">
                  <c:v>0.66</c:v>
                </c:pt>
                <c:pt idx="12">
                  <c:v>0.62</c:v>
                </c:pt>
                <c:pt idx="13">
                  <c:v>0.57999999999999996</c:v>
                </c:pt>
                <c:pt idx="14">
                  <c:v>0.55000000000000004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66-46DE-9EF2-3E329E8F45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31750" cap="flat">
              <a:solidFill>
                <a:srgbClr val="E0663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1.9</c:v>
                </c:pt>
                <c:pt idx="1">
                  <c:v>1.6</c:v>
                </c:pt>
                <c:pt idx="2">
                  <c:v>1.4</c:v>
                </c:pt>
                <c:pt idx="3">
                  <c:v>1.28</c:v>
                </c:pt>
                <c:pt idx="4">
                  <c:v>1.18</c:v>
                </c:pt>
                <c:pt idx="5">
                  <c:v>1.1200000000000001</c:v>
                </c:pt>
                <c:pt idx="6">
                  <c:v>1.08</c:v>
                </c:pt>
                <c:pt idx="7">
                  <c:v>1.05</c:v>
                </c:pt>
                <c:pt idx="8">
                  <c:v>1.03</c:v>
                </c:pt>
                <c:pt idx="9">
                  <c:v>1.02</c:v>
                </c:pt>
                <c:pt idx="10">
                  <c:v>1.01</c:v>
                </c:pt>
                <c:pt idx="11">
                  <c:v>1</c:v>
                </c:pt>
                <c:pt idx="12">
                  <c:v>0.99</c:v>
                </c:pt>
                <c:pt idx="13">
                  <c:v>0.99</c:v>
                </c:pt>
                <c:pt idx="14">
                  <c:v>0.98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66-46DE-9EF2-3E329E8F45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603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 Image Classifier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CNN training pipeline with a live web app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Capstone Project  |  Project Demonstration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 ·  OpenCV  ·  CNNs  · 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does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convolutional neural network trained to classify everyday images into 10 categories — airplane, automobile, bird, cat, deer, dog, frog, horse, ship, and truck — wrapped in a web app so anyone can upload a photo and get a live prediction.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EEF1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1148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CNN on CIFAR-10 using the full training workflow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0" y="342900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EEF1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41148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validation performance and control overfitting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0" y="342900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EEF1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0956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41148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predictions through a live Streamlit web app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3B5F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definition, training loop, and inference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9272" y="182880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93592" y="2103120"/>
            <a:ext cx="502920" cy="502920"/>
          </a:xfrm>
          <a:prstGeom prst="ellipse">
            <a:avLst/>
          </a:prstGeom>
          <a:solidFill>
            <a:srgbClr val="3B5F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47872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32461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resizing, color conversion, and normalization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182880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64224" y="2103120"/>
            <a:ext cx="502920" cy="502920"/>
          </a:xfrm>
          <a:prstGeom prst="ellipse">
            <a:avLst/>
          </a:prstGeom>
          <a:solidFill>
            <a:srgbClr val="3B5F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18504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32461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interface for live predictions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60536" y="182880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34856" y="2103120"/>
            <a:ext cx="502920" cy="502920"/>
          </a:xfrm>
          <a:prstGeom prst="ellipse">
            <a:avLst/>
          </a:prstGeom>
          <a:solidFill>
            <a:srgbClr val="3B5F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89136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89136" y="32461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curve visualization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preprocessing with OpenCV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image — whether from the training set or uploaded by a user — goes through the exact same pipeline before it reaches the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EF1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EF1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3464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32x32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937760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EF1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BGR to RGB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132320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EF1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376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values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326880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3B5F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213055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0175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x 32 x 32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38528" y="196596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213055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+ ReLU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30175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filters, 3x3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28416" y="196596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01568" y="213055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Pool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30175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18304" y="196596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13055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+ ReLU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791456" y="30175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filters, 3x3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08192" y="196596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81344" y="213055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Pool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181344" y="30175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196596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71232" y="213055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Connected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30175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units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87968" y="196596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0" y="213055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30175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0.3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277856" y="196596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51008" y="213055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351008" y="30175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D7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classes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(convolution + pooling) learns visual patterns; the fully-connected head turns those features into class predictions.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128016" cy="128016"/>
          </a:xfrm>
          <a:prstGeom prst="ellipse">
            <a:avLst/>
          </a:prstGeom>
          <a:solidFill>
            <a:srgbClr val="3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09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391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Cross-Entropy Loss for multi-class classification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9504"/>
            <a:ext cx="128016" cy="128016"/>
          </a:xfrm>
          <a:prstGeom prst="ellipse">
            <a:avLst/>
          </a:prstGeom>
          <a:solidFill>
            <a:srgbClr val="3B5F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761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Adam, learning rate 0.001, weight decay 1e-4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128016" cy="128016"/>
          </a:xfrm>
          <a:prstGeom prst="ellipse">
            <a:avLst/>
          </a:prstGeom>
          <a:solidFill>
            <a:srgbClr val="3B5F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813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42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Mini-batches of 64 images per step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837944"/>
            <a:ext cx="128016" cy="128016"/>
          </a:xfrm>
          <a:prstGeom prst="ellipse">
            <a:avLst/>
          </a:prstGeom>
          <a:solidFill>
            <a:srgbClr val="3B5F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709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391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full passes over the training set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2889504"/>
            <a:ext cx="128016" cy="128016"/>
          </a:xfrm>
          <a:prstGeom prst="ellipse">
            <a:avLst/>
          </a:prstGeom>
          <a:solidFill>
            <a:srgbClr val="3B5F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2761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10% split, checked every epoch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941064"/>
            <a:ext cx="128016" cy="128016"/>
          </a:xfrm>
          <a:prstGeom prst="ellipse">
            <a:avLst/>
          </a:prstGeom>
          <a:solidFill>
            <a:srgbClr val="3B5F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3813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142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(0.3) + augmentation to fight overfitting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results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curves shown below — replace with your own results/training_curves.png before presenting.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5740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2057400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F7F8FC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metrics (fill in from results/metrics.json)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646920" y="2926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%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4930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Loss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46920" y="34930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40599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Epoch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646920" y="405993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/ 15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462686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 Accuracy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646920" y="462686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%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" cy="777240"/>
          </a:xfrm>
          <a:prstGeom prst="roundRect">
            <a:avLst/>
          </a:prstGeom>
          <a:solidFill>
            <a:srgbClr val="3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 and pooling let a network learn spatial features automatically, instead of hand-engineering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73152" cy="777240"/>
          </a:xfrm>
          <a:prstGeom prst="roundRect">
            <a:avLst/>
          </a:prstGeom>
          <a:solidFill>
            <a:srgbClr val="3B5F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88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preprocessing between training and inference is essential — the app must resize/normalize exactly like training did.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73152" cy="777240"/>
          </a:xfrm>
          <a:prstGeom prst="roundRect">
            <a:avLst/>
          </a:prstGeom>
          <a:solidFill>
            <a:srgbClr val="3B5F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loss, not training loss, is the real signal for overfitting and for which checkpoint to keep.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73152" cy="777240"/>
          </a:xfrm>
          <a:prstGeom prst="roundRect">
            <a:avLst/>
          </a:prstGeom>
          <a:solidFill>
            <a:srgbClr val="3B5F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 trained model into a usable app is what separates a finished project from a notebook experiment.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463</Words>
  <Application>Microsoft Office PowerPoint</Application>
  <PresentationFormat>Widescreen</PresentationFormat>
  <Paragraphs>110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Danish Abbasi</cp:lastModifiedBy>
  <cp:revision>2</cp:revision>
  <dcterms:created xsi:type="dcterms:W3CDTF">2026-09-18T13:58:20Z</dcterms:created>
  <dcterms:modified xsi:type="dcterms:W3CDTF">2026-09-18T14:02:07Z</dcterms:modified>
</cp:coreProperties>
</file>