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Today I am presenting my Week 4 project: the Enterprise SQL Agent, an autonomous text-to-SQL system engineered using LangGraph, Groq, and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natural language interfaces fail on relational schemas because LLMs make syntax errors or hallucinate tables. My objective was to build an agent that actively writes, verifies, and self-corrects its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a simple script, this system is a LangGraph state machine with schema extraction, SQL generation, database execution, and synthesis nodes. The conditional router handles automatic self-correction.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the 120b model on Groq's high-speed inference engine, enforced Pydantic schemas in JSON mode to eliminate conversational chatter, and hooked it into a 4-table SQLite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development, I resolved real-world issues: managing model deprecations, bypassing unsupported tool-calling with JSON mode, resolving dependency conflicts, and stopping entity hallucinations.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show the agent answering a complex question. It joined four tables, aggregated quantities, and accurately returned Haidereez International.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highlighted the necessity of structured state management and deterministic guardrails. Looking forward, this can scale to hundreds of tables using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74520"/>
            <a:ext cx="1508760" cy="-960120"/>
          </a:xfrm>
          <a:prstGeom prst="line">
            <a:avLst/>
          </a:prstGeom>
          <a:noFill/>
          <a:ln w="15875">
            <a:solidFill>
              <a:srgbClr val="CFE0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914400"/>
            <a:ext cx="1508760" cy="1234440"/>
          </a:xfrm>
          <a:prstGeom prst="line">
            <a:avLst/>
          </a:prstGeom>
          <a:noFill/>
          <a:ln w="15875">
            <a:solidFill>
              <a:srgbClr val="CFE0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0" y="2148840"/>
            <a:ext cx="-1645920" cy="960120"/>
          </a:xfrm>
          <a:prstGeom prst="line">
            <a:avLst/>
          </a:prstGeom>
          <a:noFill/>
          <a:ln w="15875">
            <a:solidFill>
              <a:srgbClr val="CFE0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3108960"/>
            <a:ext cx="-1371600" cy="-1234440"/>
          </a:xfrm>
          <a:prstGeom prst="line">
            <a:avLst/>
          </a:prstGeom>
          <a:noFill/>
          <a:ln w="15875">
            <a:solidFill>
              <a:srgbClr val="CFE0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1874520"/>
            <a:ext cx="3017520" cy="274320"/>
          </a:xfrm>
          <a:prstGeom prst="line">
            <a:avLst/>
          </a:prstGeom>
          <a:noFill/>
          <a:ln w="15875">
            <a:solidFill>
              <a:srgbClr val="CFE0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97696" y="1819656"/>
            <a:ext cx="109728" cy="109728"/>
          </a:xfrm>
          <a:prstGeom prst="ellipse">
            <a:avLst/>
          </a:prstGeom>
          <a:solidFill>
            <a:srgbClr val="CFE0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859536"/>
            <a:ext cx="109728" cy="109728"/>
          </a:xfrm>
          <a:prstGeom prst="ellipse">
            <a:avLst/>
          </a:prstGeom>
          <a:solidFill>
            <a:srgbClr val="CFE0FF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87784" y="2066544"/>
            <a:ext cx="164592" cy="164592"/>
          </a:xfrm>
          <a:prstGeom prst="ellipse">
            <a:avLst/>
          </a:prstGeom>
          <a:solidFill>
            <a:srgbClr val="CFE0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69296" y="3054096"/>
            <a:ext cx="109728" cy="109728"/>
          </a:xfrm>
          <a:prstGeom prst="ellipse">
            <a:avLst/>
          </a:prstGeom>
          <a:solidFill>
            <a:srgbClr val="CFE0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4910328"/>
            <a:ext cx="1106424" cy="-704088"/>
          </a:xfrm>
          <a:prstGeom prst="line">
            <a:avLst/>
          </a:prstGeom>
          <a:noFill/>
          <a:ln w="15875">
            <a:solidFill>
              <a:srgbClr val="00C2D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99064" y="4206240"/>
            <a:ext cx="1106424" cy="905256"/>
          </a:xfrm>
          <a:prstGeom prst="line">
            <a:avLst/>
          </a:prstGeom>
          <a:noFill/>
          <a:ln w="15875">
            <a:solidFill>
              <a:srgbClr val="00C2D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05488" y="5111496"/>
            <a:ext cx="-1207008" cy="704088"/>
          </a:xfrm>
          <a:prstGeom prst="line">
            <a:avLst/>
          </a:prstGeom>
          <a:noFill/>
          <a:ln w="15875">
            <a:solidFill>
              <a:srgbClr val="00C2D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5815584"/>
            <a:ext cx="-1005840" cy="-905256"/>
          </a:xfrm>
          <a:prstGeom prst="line">
            <a:avLst/>
          </a:prstGeom>
          <a:noFill/>
          <a:ln w="15875">
            <a:solidFill>
              <a:srgbClr val="00C2D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4910328"/>
            <a:ext cx="2212848" cy="201168"/>
          </a:xfrm>
          <a:prstGeom prst="line">
            <a:avLst/>
          </a:prstGeom>
          <a:noFill/>
          <a:ln w="15875">
            <a:solidFill>
              <a:srgbClr val="00C2D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37776" y="4855464"/>
            <a:ext cx="109728" cy="109728"/>
          </a:xfrm>
          <a:prstGeom prst="ellipse">
            <a:avLst/>
          </a:prstGeom>
          <a:solidFill>
            <a:srgbClr val="00C2D1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44200" y="4151376"/>
            <a:ext cx="109728" cy="109728"/>
          </a:xfrm>
          <a:prstGeom prst="ellipse">
            <a:avLst/>
          </a:prstGeom>
          <a:solidFill>
            <a:srgbClr val="00C2D1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23192" y="5029200"/>
            <a:ext cx="164592" cy="164592"/>
          </a:xfrm>
          <a:prstGeom prst="ellipse">
            <a:avLst/>
          </a:prstGeom>
          <a:solidFill>
            <a:srgbClr val="00C2D1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43616" y="5760720"/>
            <a:ext cx="109728" cy="109728"/>
          </a:xfrm>
          <a:prstGeom prst="ellipse">
            <a:avLst/>
          </a:prstGeom>
          <a:solidFill>
            <a:srgbClr val="00C2D1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331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INTERNSHIP PORTFOLIO DELIVERABLE  ·  WEEK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6974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SQL Agent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Text-to-SQL System with LangGraph Self-Correction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2960" y="4434840"/>
            <a:ext cx="1188720" cy="0"/>
          </a:xfrm>
          <a:prstGeom prst="line">
            <a:avLst/>
          </a:prstGeom>
          <a:noFill/>
          <a:ln w="38100">
            <a:solidFill>
              <a:srgbClr val="00C2D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natural language queries and relational database schemas.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121E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dashboards restrict users to static metrics and pre-configured queries.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121E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912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Failures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20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LLM querying often fails on multi-table relational joins due to syntax errors.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21E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5079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Entities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8371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LLMs frequently hallucinate fake entities or tables when queries encounter execution errors.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1874520"/>
            <a:ext cx="5669280" cy="4343400"/>
          </a:xfrm>
          <a:prstGeom prst="roundRect">
            <a:avLst>
              <a:gd name="adj" fmla="val 2526"/>
            </a:avLst>
          </a:prstGeom>
          <a:solidFill>
            <a:srgbClr val="121E45"/>
          </a:solidFill>
          <a:ln/>
        </p:spPr>
      </p:sp>
      <p:sp>
        <p:nvSpPr>
          <p:cNvPr id="18" name="Shape 16"/>
          <p:cNvSpPr/>
          <p:nvPr/>
        </p:nvSpPr>
        <p:spPr>
          <a:xfrm>
            <a:off x="9966960" y="2628900"/>
            <a:ext cx="754380" cy="-480060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21340" y="2148840"/>
            <a:ext cx="754380" cy="617220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75720" y="2766060"/>
            <a:ext cx="-822960" cy="480060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52760" y="3246120"/>
            <a:ext cx="-685800" cy="-617220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2628900"/>
            <a:ext cx="1508760" cy="137160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12096" y="2574036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66476" y="2093976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393424" y="2683764"/>
            <a:ext cx="164592" cy="164592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597896" y="3191256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6517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self-healing autonomous agent that writes, executes, validates, and refines complex SQL — without manual intervention.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400800" y="4709160"/>
            <a:ext cx="822960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892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autonomous loop replaces manual query writing, debugging, and validation.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State Machine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graph orchestration replacing simple sequential pipelines.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68296"/>
            <a:ext cx="402336" cy="402336"/>
          </a:xfrm>
          <a:prstGeom prst="ellipse">
            <a:avLst/>
          </a:prstGeom>
          <a:solidFill>
            <a:srgbClr val="121E45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9260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SQL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34290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live schema via SQLite pragmas and generates strictly formatted SQL.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3506724"/>
            <a:ext cx="237744" cy="164592"/>
          </a:xfrm>
          <a:prstGeom prst="rightArrow">
            <a:avLst/>
          </a:prstGeom>
          <a:solidFill>
            <a:srgbClr val="A9B4D6"/>
          </a:solidFill>
          <a:ln/>
        </p:spPr>
      </p:sp>
      <p:sp>
        <p:nvSpPr>
          <p:cNvPr id="11" name="Shape 9"/>
          <p:cNvSpPr/>
          <p:nvPr/>
        </p:nvSpPr>
        <p:spPr>
          <a:xfrm>
            <a:off x="3236976" y="21488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2368296"/>
            <a:ext cx="402336" cy="402336"/>
          </a:xfrm>
          <a:prstGeom prst="ellipse">
            <a:avLst/>
          </a:prstGeom>
          <a:solidFill>
            <a:srgbClr val="121E45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29260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SQL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56432" y="34290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queries against a local SQLite database with built-in safety blockers (DROP/DELETE).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05856" y="3506724"/>
            <a:ext cx="237744" cy="164592"/>
          </a:xfrm>
          <a:prstGeom prst="rightArrow">
            <a:avLst/>
          </a:prstGeom>
          <a:solidFill>
            <a:srgbClr val="A9B4D6"/>
          </a:solidFill>
          <a:ln/>
        </p:spPr>
      </p:sp>
      <p:sp>
        <p:nvSpPr>
          <p:cNvPr id="17" name="Shape 15"/>
          <p:cNvSpPr/>
          <p:nvPr/>
        </p:nvSpPr>
        <p:spPr>
          <a:xfrm>
            <a:off x="5925312" y="21488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121E45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2368296"/>
            <a:ext cx="402336" cy="40233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29260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44768" y="34290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query tracebacks; on syntax errors, routes back to the generator with error context (up to 3 retries).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94192" y="3506724"/>
            <a:ext cx="237744" cy="164592"/>
          </a:xfrm>
          <a:prstGeom prst="rightArrow">
            <a:avLst/>
          </a:prstGeom>
          <a:solidFill>
            <a:srgbClr val="A9B4D6"/>
          </a:solidFill>
          <a:ln/>
        </p:spPr>
      </p:sp>
      <p:sp>
        <p:nvSpPr>
          <p:cNvPr id="23" name="Shape 21"/>
          <p:cNvSpPr/>
          <p:nvPr/>
        </p:nvSpPr>
        <p:spPr>
          <a:xfrm>
            <a:off x="8613648" y="2148840"/>
            <a:ext cx="2487168" cy="288036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33104" y="2368296"/>
            <a:ext cx="402336" cy="402336"/>
          </a:xfrm>
          <a:prstGeom prst="ellipse">
            <a:avLst/>
          </a:prstGeom>
          <a:solidFill>
            <a:srgbClr val="121E45"/>
          </a:solidFill>
          <a:ln/>
        </p:spPr>
      </p:sp>
      <p:sp>
        <p:nvSpPr>
          <p:cNvPr id="25" name="Text 23"/>
          <p:cNvSpPr/>
          <p:nvPr/>
        </p:nvSpPr>
        <p:spPr>
          <a:xfrm>
            <a:off x="8833104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33104" y="29260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Answer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833104" y="342900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tabular results into concise, factual natural-language summaries.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68896" y="5029200"/>
            <a:ext cx="0" cy="320040"/>
          </a:xfrm>
          <a:prstGeom prst="line">
            <a:avLst/>
          </a:prstGeom>
          <a:noFill/>
          <a:ln w="22225">
            <a:solidFill>
              <a:srgbClr val="00C2D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792224" y="5349240"/>
            <a:ext cx="5376672" cy="0"/>
          </a:xfrm>
          <a:prstGeom prst="line">
            <a:avLst/>
          </a:prstGeom>
          <a:noFill/>
          <a:ln w="22225">
            <a:solidFill>
              <a:srgbClr val="00C2D1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792224" y="5349240"/>
            <a:ext cx="0" cy="-320040"/>
          </a:xfrm>
          <a:prstGeom prst="line">
            <a:avLst/>
          </a:prstGeom>
          <a:noFill/>
          <a:ln w="22225">
            <a:solidFill>
              <a:srgbClr val="00C2D1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929384" y="5385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≤ 3×  on syntax error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 &amp; Key Decisions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high-throughput components configured for enterprise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214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21E4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665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 maintaining execution state, error tracebacks, and retry counters.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6027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21E4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8587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utilizing openai/gpt-oss-120b for high-parameter multi-table relational reasoning.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50840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21E4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4009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JSON Mode via Pydantic to ensure deterministic SQL extraction without conversational padding.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1214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21E45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20665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4-table relational SQLite database (customers, products, orders, order_items) with foreign keys.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3401568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36027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21E45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8587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with expandable execution logs and raw data inspection.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4882896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121E45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0474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120B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309360" y="56601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Groq-hosted model powering multi-table reasoning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 Overcome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prototype code into production-grade agentic reliability.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305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58775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Model Decommissioning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5351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404/400 errors across deprecations; built check_models.py to inspect key-level model accessibility.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21305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91072" y="258775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Incompatibility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295351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provider-level tool-calling restrictions by switching to structured JSON output parsing.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233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4672" y="469087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Suppression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505663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7B models fabricating synthetic companies (Company A/B/C); engineered strict dynamic prompt guardrails.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40690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4233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91072" y="469087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505663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complex version constraints between langchain-core, langgraph, and tabulate formatting.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4-Table Query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autonomous relational join capabilities.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751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company ordered the most Huawei equipment?”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572768" cy="566928"/>
          </a:xfrm>
          <a:prstGeom prst="roundRect">
            <a:avLst>
              <a:gd name="adj" fmla="val 48387"/>
            </a:avLst>
          </a:prstGeom>
          <a:solidFill>
            <a:srgbClr val="121E4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3273552"/>
            <a:ext cx="292608" cy="146304"/>
          </a:xfrm>
          <a:prstGeom prst="rightArrow">
            <a:avLst/>
          </a:prstGeom>
          <a:solidFill>
            <a:srgbClr val="A9B4D6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3063240"/>
            <a:ext cx="1572768" cy="566928"/>
          </a:xfrm>
          <a:prstGeom prst="roundRect">
            <a:avLst>
              <a:gd name="adj" fmla="val 48387"/>
            </a:avLst>
          </a:prstGeom>
          <a:solidFill>
            <a:srgbClr val="121E45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30632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273552"/>
            <a:ext cx="292608" cy="146304"/>
          </a:xfrm>
          <a:prstGeom prst="rightArrow">
            <a:avLst/>
          </a:prstGeom>
          <a:solidFill>
            <a:srgbClr val="A9B4D6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3063240"/>
            <a:ext cx="1572768" cy="566928"/>
          </a:xfrm>
          <a:prstGeom prst="roundRect">
            <a:avLst>
              <a:gd name="adj" fmla="val 48387"/>
            </a:avLst>
          </a:prstGeom>
          <a:solidFill>
            <a:srgbClr val="121E45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0632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3273552"/>
            <a:ext cx="292608" cy="146304"/>
          </a:xfrm>
          <a:prstGeom prst="rightArrow">
            <a:avLst/>
          </a:prstGeom>
          <a:solidFill>
            <a:srgbClr val="A9B4D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3063240"/>
            <a:ext cx="1572768" cy="566928"/>
          </a:xfrm>
          <a:prstGeom prst="roundRect">
            <a:avLst>
              <a:gd name="adj" fmla="val 48387"/>
            </a:avLst>
          </a:prstGeom>
          <a:solidFill>
            <a:srgbClr val="121E45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0632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67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join chain — resolved without manual schema hints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QUERY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7223760" cy="1234440"/>
          </a:xfrm>
          <a:prstGeom prst="roundRect">
            <a:avLst>
              <a:gd name="adj" fmla="val 5926"/>
            </a:avLst>
          </a:prstGeom>
          <a:solidFill>
            <a:srgbClr val="1E2C6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53712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Flawlessly aggregated quantities using SUM(oi.quantity), GROUP BY, and LIMIT 1 — without data leakage across the four-table join.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1874520"/>
            <a:ext cx="3657600" cy="3794760"/>
          </a:xfrm>
          <a:prstGeom prst="roundRect">
            <a:avLst>
              <a:gd name="adj" fmla="val 3000"/>
            </a:avLst>
          </a:prstGeom>
          <a:solidFill>
            <a:srgbClr val="121E4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07040" y="2500884"/>
            <a:ext cx="553212" cy="-352044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60252" y="2148840"/>
            <a:ext cx="553212" cy="452628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13464" y="2601468"/>
            <a:ext cx="-603504" cy="352044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09960" y="2953512"/>
            <a:ext cx="-502920" cy="-452628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07040" y="2500884"/>
            <a:ext cx="1106424" cy="100584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52176" y="2446020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05388" y="2093976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631168" y="2519172"/>
            <a:ext cx="164592" cy="164592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55096" y="2898648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75320" y="2560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Haidereez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8275320" y="3840480"/>
            <a:ext cx="731520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equipment importer — accurately identified as the highest-volume buyer of Huawei products, with no data leakage across joined tables.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1078992"/>
            <a:ext cx="905256" cy="-576072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37976" y="502920"/>
            <a:ext cx="905256" cy="740664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143232" y="1243584"/>
            <a:ext cx="-987552" cy="576072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1819656"/>
            <a:ext cx="-822960" cy="-740664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1078992"/>
            <a:ext cx="1810512" cy="164592"/>
          </a:xfrm>
          <a:prstGeom prst="line">
            <a:avLst/>
          </a:prstGeom>
          <a:noFill/>
          <a:ln w="15875">
            <a:solidFill>
              <a:srgbClr val="CFE0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77856" y="1024128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48056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060936" y="1161288"/>
            <a:ext cx="164592" cy="164592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00816" y="1764792"/>
            <a:ext cx="109728" cy="109728"/>
          </a:xfrm>
          <a:prstGeom prst="ellipse">
            <a:avLst/>
          </a:prstGeom>
          <a:solidFill>
            <a:srgbClr val="CFE0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Future Roadmap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from building production-grade agentic systems.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2C63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218541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00C2D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2660904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Orchestration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6384" y="3026664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require structured state management rather than raw prompt-chaining.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2C63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218541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00C2D1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2660904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as Code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72784" y="3026664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prompts must separate success and failure branches to prevent hallucinated summaries.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2C63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" y="42885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00C2D1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6384" y="4764024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86384" y="5129784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semantic schema vector search (RAG) for large enterprise databases with 100+ tables.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0690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2C63"/>
          </a:solidFill>
          <a:ln/>
        </p:spPr>
      </p:sp>
      <p:sp>
        <p:nvSpPr>
          <p:cNvPr id="30" name="Shape 28"/>
          <p:cNvSpPr/>
          <p:nvPr/>
        </p:nvSpPr>
        <p:spPr>
          <a:xfrm>
            <a:off x="6272784" y="42885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00C2D1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72784" y="4764024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Enhancements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272784" y="5129784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read-only connection pooling and automated query cost estimation before execution.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2026-09-24T23:23:45Z</dcterms:created>
  <dcterms:modified xsi:type="dcterms:W3CDTF">2026-09-24T23:23:45Z</dcterms:modified>
</cp:coreProperties>
</file>